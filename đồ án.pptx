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8288000" cy="10287000"/>
  <p:notesSz cx="6858000" cy="9144000"/>
  <p:embeddedFontLst>
    <p:embeddedFont>
      <p:font typeface="Arial Bold" panose="020B0704020202020204" pitchFamily="34" charset="0"/>
      <p:regular r:id="rId22"/>
      <p:bold r:id="rId23"/>
    </p:embeddedFont>
    <p:embeddedFont>
      <p:font typeface="Arial Bold Italics" panose="020B0604020202020204" charset="0"/>
      <p:regular r:id="rId24"/>
    </p:embeddedFont>
    <p:embeddedFont>
      <p:font typeface="Noto Sans Bold" panose="020B0604020202020204" charset="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1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24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4" Type="http://schemas.openxmlformats.org/officeDocument/2006/relationships/image" Target="../media/image25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24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24.jpe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4B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928951" y="8286378"/>
            <a:ext cx="8906565" cy="1282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88"/>
              </a:lnSpc>
            </a:pPr>
            <a:r>
              <a:rPr lang="en-US" sz="3491">
                <a:solidFill>
                  <a:srgbClr val="F0ABC1"/>
                </a:solidFill>
                <a:latin typeface="Arial"/>
                <a:ea typeface="Arial"/>
                <a:cs typeface="Arial"/>
                <a:sym typeface="Arial"/>
              </a:rPr>
              <a:t>SINH VIÊN: LÊ NHẬT DƯƠNG</a:t>
            </a:r>
          </a:p>
          <a:p>
            <a:pPr algn="l">
              <a:lnSpc>
                <a:spcPts val="4888"/>
              </a:lnSpc>
            </a:pPr>
            <a:r>
              <a:rPr lang="en-US" sz="3491">
                <a:solidFill>
                  <a:srgbClr val="F0ABC1"/>
                </a:solidFill>
                <a:latin typeface="Arial"/>
                <a:ea typeface="Arial"/>
                <a:cs typeface="Arial"/>
                <a:sym typeface="Arial"/>
              </a:rPr>
              <a:t>GVHD: Ts. ĐÀO NAM ANH</a:t>
            </a:r>
          </a:p>
        </p:txBody>
      </p:sp>
      <p:sp>
        <p:nvSpPr>
          <p:cNvPr id="3" name="Freeform 3"/>
          <p:cNvSpPr/>
          <p:nvPr/>
        </p:nvSpPr>
        <p:spPr>
          <a:xfrm>
            <a:off x="1182834" y="-1921745"/>
            <a:ext cx="6755642" cy="4114800"/>
          </a:xfrm>
          <a:custGeom>
            <a:avLst/>
            <a:gdLst/>
            <a:ahLst/>
            <a:cxnLst/>
            <a:rect l="l" t="t" r="r" b="b"/>
            <a:pathLst>
              <a:path w="6755642" h="4114800">
                <a:moveTo>
                  <a:pt x="0" y="0"/>
                </a:moveTo>
                <a:lnTo>
                  <a:pt x="6755642" y="0"/>
                </a:lnTo>
                <a:lnTo>
                  <a:pt x="675564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6303834" y="1790711"/>
            <a:ext cx="1194327" cy="2586142"/>
          </a:xfrm>
          <a:custGeom>
            <a:avLst/>
            <a:gdLst/>
            <a:ahLst/>
            <a:cxnLst/>
            <a:rect l="l" t="t" r="r" b="b"/>
            <a:pathLst>
              <a:path w="1194327" h="2586142">
                <a:moveTo>
                  <a:pt x="0" y="0"/>
                </a:moveTo>
                <a:lnTo>
                  <a:pt x="1194327" y="0"/>
                </a:lnTo>
                <a:lnTo>
                  <a:pt x="1194327" y="2586142"/>
                </a:lnTo>
                <a:lnTo>
                  <a:pt x="0" y="25861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flipH="1">
            <a:off x="2095190" y="2021154"/>
            <a:ext cx="5357753" cy="5591583"/>
          </a:xfrm>
          <a:custGeom>
            <a:avLst/>
            <a:gdLst/>
            <a:ahLst/>
            <a:cxnLst/>
            <a:rect l="l" t="t" r="r" b="b"/>
            <a:pathLst>
              <a:path w="5357753" h="5591583">
                <a:moveTo>
                  <a:pt x="5357753" y="0"/>
                </a:moveTo>
                <a:lnTo>
                  <a:pt x="0" y="0"/>
                </a:lnTo>
                <a:lnTo>
                  <a:pt x="0" y="5591582"/>
                </a:lnTo>
                <a:lnTo>
                  <a:pt x="5357753" y="5591582"/>
                </a:lnTo>
                <a:lnTo>
                  <a:pt x="535775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-947148" y="1264426"/>
            <a:ext cx="3144039" cy="2440918"/>
          </a:xfrm>
          <a:custGeom>
            <a:avLst/>
            <a:gdLst/>
            <a:ahLst/>
            <a:cxnLst/>
            <a:rect l="l" t="t" r="r" b="b"/>
            <a:pathLst>
              <a:path w="3144039" h="2440918">
                <a:moveTo>
                  <a:pt x="0" y="0"/>
                </a:moveTo>
                <a:lnTo>
                  <a:pt x="3144040" y="0"/>
                </a:lnTo>
                <a:lnTo>
                  <a:pt x="3144040" y="2440918"/>
                </a:lnTo>
                <a:lnTo>
                  <a:pt x="0" y="244091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624872" y="5005800"/>
            <a:ext cx="1894295" cy="4252500"/>
          </a:xfrm>
          <a:custGeom>
            <a:avLst/>
            <a:gdLst/>
            <a:ahLst/>
            <a:cxnLst/>
            <a:rect l="l" t="t" r="r" b="b"/>
            <a:pathLst>
              <a:path w="1894295" h="4252500">
                <a:moveTo>
                  <a:pt x="0" y="0"/>
                </a:moveTo>
                <a:lnTo>
                  <a:pt x="1894295" y="0"/>
                </a:lnTo>
                <a:lnTo>
                  <a:pt x="1894295" y="4252500"/>
                </a:lnTo>
                <a:lnTo>
                  <a:pt x="0" y="42525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4011803" y="7612736"/>
            <a:ext cx="3486358" cy="4114800"/>
          </a:xfrm>
          <a:custGeom>
            <a:avLst/>
            <a:gdLst/>
            <a:ahLst/>
            <a:cxnLst/>
            <a:rect l="l" t="t" r="r" b="b"/>
            <a:pathLst>
              <a:path w="3486358" h="4114800">
                <a:moveTo>
                  <a:pt x="0" y="0"/>
                </a:moveTo>
                <a:lnTo>
                  <a:pt x="3486358" y="0"/>
                </a:lnTo>
                <a:lnTo>
                  <a:pt x="34863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7938476" y="2342010"/>
            <a:ext cx="10015317" cy="1992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31"/>
              </a:lnSpc>
            </a:pPr>
            <a:r>
              <a:rPr lang="en-US" sz="3665">
                <a:solidFill>
                  <a:srgbClr val="F0ABC1"/>
                </a:solidFill>
                <a:latin typeface="Arial"/>
                <a:ea typeface="Arial"/>
                <a:cs typeface="Arial"/>
                <a:sym typeface="Arial"/>
              </a:rPr>
              <a:t>ĐỀ TÀI NGHIÊN CỨU:</a:t>
            </a:r>
          </a:p>
          <a:p>
            <a:pPr algn="ctr">
              <a:lnSpc>
                <a:spcPts val="5131"/>
              </a:lnSpc>
              <a:spcBef>
                <a:spcPct val="0"/>
              </a:spcBef>
            </a:pPr>
            <a:r>
              <a:rPr lang="en-US" sz="3665">
                <a:solidFill>
                  <a:srgbClr val="F0ABC1"/>
                </a:solidFill>
                <a:latin typeface="Arial"/>
                <a:ea typeface="Arial"/>
                <a:cs typeface="Arial"/>
                <a:sym typeface="Arial"/>
              </a:rPr>
              <a:t>HỆ THỐNG PHÂN TÍCH VÀ XỬ LÍ VIDEO ĐA LUỒNG NỘI BỘ CÔNG TY SAM_C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DD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497814" y="3086100"/>
            <a:ext cx="5131837" cy="4114800"/>
          </a:xfrm>
          <a:custGeom>
            <a:avLst/>
            <a:gdLst/>
            <a:ahLst/>
            <a:cxnLst/>
            <a:rect l="l" t="t" r="r" b="b"/>
            <a:pathLst>
              <a:path w="5131837" h="4114800">
                <a:moveTo>
                  <a:pt x="0" y="0"/>
                </a:moveTo>
                <a:lnTo>
                  <a:pt x="5131837" y="0"/>
                </a:lnTo>
                <a:lnTo>
                  <a:pt x="513183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028700" y="2647950"/>
            <a:ext cx="9768230" cy="486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79"/>
              </a:lnSpc>
            </a:pPr>
            <a:r>
              <a:rPr lang="en-US" sz="6399" b="1">
                <a:solidFill>
                  <a:srgbClr val="31356E"/>
                </a:solidFill>
                <a:latin typeface="Arial Bold"/>
                <a:ea typeface="Arial Bold"/>
                <a:cs typeface="Arial Bold"/>
                <a:sym typeface="Arial Bold"/>
              </a:rPr>
              <a:t>NỘI DUNG:</a:t>
            </a:r>
          </a:p>
          <a:p>
            <a:pPr algn="l">
              <a:lnSpc>
                <a:spcPts val="7679"/>
              </a:lnSpc>
            </a:pPr>
            <a:endParaRPr lang="en-US" sz="6399" b="1">
              <a:solidFill>
                <a:srgbClr val="31356E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31356E"/>
                </a:solidFill>
                <a:latin typeface="Arial Bold"/>
                <a:ea typeface="Arial Bold"/>
                <a:cs typeface="Arial Bold"/>
                <a:sym typeface="Arial Bold"/>
              </a:rPr>
              <a:t>CHƯƠNG 1: GIỚI THIỆU BÀI TOÁN VÀ MỤC TIÊU     CỦA ĐỀ TÀI.</a:t>
            </a:r>
          </a:p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31356E"/>
                </a:solidFill>
                <a:latin typeface="Arial Bold"/>
                <a:ea typeface="Arial Bold"/>
                <a:cs typeface="Arial Bold"/>
                <a:sym typeface="Arial Bold"/>
              </a:rPr>
              <a:t>CHƯƠNG 2: PIPELINE TỔNG QUAN HỆ THỐNG</a:t>
            </a:r>
          </a:p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31356E"/>
                </a:solidFill>
                <a:latin typeface="Arial Bold"/>
                <a:ea typeface="Arial Bold"/>
                <a:cs typeface="Arial Bold"/>
                <a:sym typeface="Arial Bold"/>
              </a:rPr>
              <a:t>CHƯƠNG 3: KẾT LUẬN.  </a:t>
            </a:r>
          </a:p>
          <a:p>
            <a:pPr algn="l">
              <a:lnSpc>
                <a:spcPts val="7680"/>
              </a:lnSpc>
            </a:pPr>
            <a:r>
              <a:rPr lang="en-US" sz="6400" b="1">
                <a:solidFill>
                  <a:srgbClr val="31356E"/>
                </a:solidFill>
                <a:latin typeface="Arial Bold"/>
                <a:ea typeface="Arial Bold"/>
                <a:cs typeface="Arial Bold"/>
                <a:sym typeface="Arial Bold"/>
              </a:rPr>
              <a:t> 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4B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3849767"/>
            <a:ext cx="18288000" cy="30408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15"/>
              </a:lnSpc>
            </a:pPr>
            <a:r>
              <a:rPr lang="en-US" sz="6799" b="1">
                <a:solidFill>
                  <a:srgbClr val="F7B4A7"/>
                </a:solidFill>
                <a:latin typeface="Arial Bold"/>
                <a:ea typeface="Arial Bold"/>
                <a:cs typeface="Arial Bold"/>
                <a:sym typeface="Arial Bold"/>
              </a:rPr>
              <a:t>CHƯƠNG 1: GIỚI THIỆU BÀI TOÁN VÀ MỤC TIÊU CỦA ĐỀ TÀI</a:t>
            </a:r>
          </a:p>
          <a:p>
            <a:pPr algn="ctr">
              <a:lnSpc>
                <a:spcPts val="7615"/>
              </a:lnSpc>
              <a:spcBef>
                <a:spcPct val="0"/>
              </a:spcBef>
            </a:pPr>
            <a:endParaRPr lang="en-US" sz="6799" b="1">
              <a:solidFill>
                <a:srgbClr val="F7B4A7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4B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0368" y="1391254"/>
            <a:ext cx="17634796" cy="4888189"/>
            <a:chOff x="0" y="0"/>
            <a:chExt cx="23513061" cy="6517585"/>
          </a:xfrm>
        </p:grpSpPr>
        <p:sp>
          <p:nvSpPr>
            <p:cNvPr id="3" name="TextBox 3"/>
            <p:cNvSpPr txBox="1"/>
            <p:nvPr/>
          </p:nvSpPr>
          <p:spPr>
            <a:xfrm>
              <a:off x="988563" y="-123825"/>
              <a:ext cx="13799567" cy="13938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7565"/>
                </a:lnSpc>
              </a:pPr>
              <a:r>
                <a:rPr lang="en-US" sz="6304" b="1">
                  <a:solidFill>
                    <a:srgbClr val="F7B4A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1.Giới thiệu bài toán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3954348"/>
              <a:ext cx="23513061" cy="22277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75106" lvl="1" indent="-337553" algn="just">
                <a:lnSpc>
                  <a:spcPts val="4377"/>
                </a:lnSpc>
                <a:buFont typeface="Arial"/>
                <a:buChar char="•"/>
              </a:pPr>
              <a:r>
                <a:rPr lang="en-US" sz="3126">
                  <a:solidFill>
                    <a:srgbClr val="94DDDE"/>
                  </a:solidFill>
                  <a:latin typeface="Arial"/>
                  <a:ea typeface="Arial"/>
                  <a:cs typeface="Arial"/>
                  <a:sym typeface="Arial"/>
                </a:rPr>
                <a:t>Phát hiện và nhận diện biển số xe từ video đầu vào</a:t>
              </a:r>
            </a:p>
            <a:p>
              <a:pPr marL="675106" lvl="1" indent="-337553" algn="just">
                <a:lnSpc>
                  <a:spcPts val="4377"/>
                </a:lnSpc>
                <a:buFont typeface="Arial"/>
                <a:buChar char="•"/>
              </a:pPr>
              <a:r>
                <a:rPr lang="en-US" sz="3126">
                  <a:solidFill>
                    <a:srgbClr val="94DDDE"/>
                  </a:solidFill>
                  <a:latin typeface="Arial"/>
                  <a:ea typeface="Arial"/>
                  <a:cs typeface="Arial"/>
                  <a:sym typeface="Arial"/>
                </a:rPr>
                <a:t>Theo dõi xe trong toàn bộ khung hình để giám sát giao thông hoặc quản lí bãi xe</a:t>
              </a:r>
            </a:p>
            <a:p>
              <a:pPr marL="675106" lvl="1" indent="-337553" algn="just">
                <a:lnSpc>
                  <a:spcPts val="4377"/>
                </a:lnSpc>
                <a:buFont typeface="Arial"/>
                <a:buChar char="•"/>
              </a:pPr>
              <a:r>
                <a:rPr lang="en-US" sz="3126">
                  <a:solidFill>
                    <a:srgbClr val="94DDDE"/>
                  </a:solidFill>
                  <a:latin typeface="Arial"/>
                  <a:ea typeface="Arial"/>
                  <a:cs typeface="Arial"/>
                  <a:sym typeface="Arial"/>
                </a:rPr>
                <a:t>Đầu ra sẽ là biển số xe và hành trình của xe trong video</a:t>
              </a:r>
            </a:p>
          </p:txBody>
        </p:sp>
      </p:grpSp>
      <p:sp>
        <p:nvSpPr>
          <p:cNvPr id="5" name="Freeform 5"/>
          <p:cNvSpPr/>
          <p:nvPr/>
        </p:nvSpPr>
        <p:spPr>
          <a:xfrm>
            <a:off x="13384755" y="-441339"/>
            <a:ext cx="3874545" cy="5122596"/>
          </a:xfrm>
          <a:custGeom>
            <a:avLst/>
            <a:gdLst/>
            <a:ahLst/>
            <a:cxnLst/>
            <a:rect l="l" t="t" r="r" b="b"/>
            <a:pathLst>
              <a:path w="3874545" h="5122596">
                <a:moveTo>
                  <a:pt x="0" y="0"/>
                </a:moveTo>
                <a:lnTo>
                  <a:pt x="3874545" y="0"/>
                </a:lnTo>
                <a:lnTo>
                  <a:pt x="3874545" y="5122595"/>
                </a:lnTo>
                <a:lnTo>
                  <a:pt x="0" y="51225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4413455" y="0"/>
            <a:ext cx="3874545" cy="5122596"/>
          </a:xfrm>
          <a:custGeom>
            <a:avLst/>
            <a:gdLst/>
            <a:ahLst/>
            <a:cxnLst/>
            <a:rect l="l" t="t" r="r" b="b"/>
            <a:pathLst>
              <a:path w="3874545" h="5122596">
                <a:moveTo>
                  <a:pt x="0" y="0"/>
                </a:moveTo>
                <a:lnTo>
                  <a:pt x="3874545" y="0"/>
                </a:lnTo>
                <a:lnTo>
                  <a:pt x="3874545" y="5122596"/>
                </a:lnTo>
                <a:lnTo>
                  <a:pt x="0" y="51225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5322027" y="193086"/>
            <a:ext cx="3874545" cy="5122596"/>
          </a:xfrm>
          <a:custGeom>
            <a:avLst/>
            <a:gdLst/>
            <a:ahLst/>
            <a:cxnLst/>
            <a:rect l="l" t="t" r="r" b="b"/>
            <a:pathLst>
              <a:path w="3874545" h="5122596">
                <a:moveTo>
                  <a:pt x="0" y="0"/>
                </a:moveTo>
                <a:lnTo>
                  <a:pt x="3874546" y="0"/>
                </a:lnTo>
                <a:lnTo>
                  <a:pt x="3874546" y="5122596"/>
                </a:lnTo>
                <a:lnTo>
                  <a:pt x="0" y="51225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4B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96012" y="397858"/>
            <a:ext cx="15523869" cy="9508370"/>
          </a:xfrm>
          <a:custGeom>
            <a:avLst/>
            <a:gdLst/>
            <a:ahLst/>
            <a:cxnLst/>
            <a:rect l="l" t="t" r="r" b="b"/>
            <a:pathLst>
              <a:path w="15523869" h="9508370">
                <a:moveTo>
                  <a:pt x="0" y="0"/>
                </a:moveTo>
                <a:lnTo>
                  <a:pt x="15523869" y="0"/>
                </a:lnTo>
                <a:lnTo>
                  <a:pt x="15523869" y="9508369"/>
                </a:lnTo>
                <a:lnTo>
                  <a:pt x="0" y="95083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4B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148507"/>
            <a:ext cx="17616009" cy="7642289"/>
            <a:chOff x="0" y="0"/>
            <a:chExt cx="23488013" cy="10189719"/>
          </a:xfrm>
        </p:grpSpPr>
        <p:sp>
          <p:nvSpPr>
            <p:cNvPr id="3" name="TextBox 3"/>
            <p:cNvSpPr txBox="1"/>
            <p:nvPr/>
          </p:nvSpPr>
          <p:spPr>
            <a:xfrm>
              <a:off x="987510" y="-123825"/>
              <a:ext cx="13784867" cy="13924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7557"/>
                </a:lnSpc>
              </a:pPr>
              <a:r>
                <a:rPr lang="en-US" sz="6297" b="1">
                  <a:solidFill>
                    <a:srgbClr val="F7B4A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2. Mục tiêu của đề tài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3950004"/>
              <a:ext cx="23488013" cy="590456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74387" lvl="1" indent="-337193" algn="just">
                <a:lnSpc>
                  <a:spcPts val="4373"/>
                </a:lnSpc>
                <a:buFont typeface="Arial"/>
                <a:buChar char="•"/>
              </a:pPr>
              <a:r>
                <a:rPr lang="en-US" sz="3123">
                  <a:solidFill>
                    <a:srgbClr val="94DDDE"/>
                  </a:solidFill>
                  <a:latin typeface="Arial"/>
                  <a:ea typeface="Arial"/>
                  <a:cs typeface="Arial"/>
                  <a:sym typeface="Arial"/>
                </a:rPr>
                <a:t>Xây dựng hệ thống nhận diện biển số xe và theo dõi phương tiện trong video đa luồng</a:t>
              </a:r>
            </a:p>
            <a:p>
              <a:pPr marL="674387" lvl="1" indent="-337193" algn="just">
                <a:lnSpc>
                  <a:spcPts val="4373"/>
                </a:lnSpc>
                <a:buFont typeface="Arial"/>
                <a:buChar char="•"/>
              </a:pPr>
              <a:r>
                <a:rPr lang="en-US" sz="3123">
                  <a:solidFill>
                    <a:srgbClr val="94DDDE"/>
                  </a:solidFill>
                  <a:latin typeface="Arial"/>
                  <a:ea typeface="Arial"/>
                  <a:cs typeface="Arial"/>
                  <a:sym typeface="Arial"/>
                </a:rPr>
                <a:t>Hệ thống cần phát hiện phương tiện, nhận diện biển số và theo dõi chúng qua các khung hình</a:t>
              </a:r>
            </a:p>
            <a:p>
              <a:pPr marL="674387" lvl="1" indent="-337193" algn="just">
                <a:lnSpc>
                  <a:spcPts val="4373"/>
                </a:lnSpc>
                <a:buFont typeface="Arial"/>
                <a:buChar char="•"/>
              </a:pPr>
              <a:r>
                <a:rPr lang="en-US" sz="3123">
                  <a:solidFill>
                    <a:srgbClr val="94DDDE"/>
                  </a:solidFill>
                  <a:latin typeface="Arial"/>
                  <a:ea typeface="Arial"/>
                  <a:cs typeface="Arial"/>
                  <a:sym typeface="Arial"/>
                </a:rPr>
                <a:t>Để đạt được điều này, hệ thống cần có độ chính xác cao và tốc độ xử lí nhanh</a:t>
              </a:r>
            </a:p>
            <a:p>
              <a:pPr marL="674387" lvl="1" indent="-337193" algn="just">
                <a:lnSpc>
                  <a:spcPts val="4373"/>
                </a:lnSpc>
                <a:buFont typeface="Arial"/>
                <a:buChar char="•"/>
              </a:pPr>
              <a:r>
                <a:rPr lang="en-US" sz="3123">
                  <a:solidFill>
                    <a:srgbClr val="94DDDE"/>
                  </a:solidFill>
                  <a:latin typeface="Arial"/>
                  <a:ea typeface="Arial"/>
                  <a:cs typeface="Arial"/>
                  <a:sym typeface="Arial"/>
                </a:rPr>
                <a:t>Có thế ứng dụng cho giám sát giao thông hay phát hiện vi phạm vượt đèn đỏ hoặc chạy quá tốc độ</a:t>
              </a:r>
            </a:p>
            <a:p>
              <a:pPr marL="674387" lvl="1" indent="-337193" algn="just">
                <a:lnSpc>
                  <a:spcPts val="4373"/>
                </a:lnSpc>
                <a:buFont typeface="Arial"/>
                <a:buChar char="•"/>
              </a:pPr>
              <a:r>
                <a:rPr lang="en-US" sz="3123">
                  <a:solidFill>
                    <a:srgbClr val="94DDDE"/>
                  </a:solidFill>
                  <a:latin typeface="Arial"/>
                  <a:ea typeface="Arial"/>
                  <a:cs typeface="Arial"/>
                  <a:sym typeface="Arial"/>
                </a:rPr>
                <a:t>Giúp nâng cao hiệu quả quản lí và đảm bảo an ninh và an toàn</a:t>
              </a:r>
            </a:p>
            <a:p>
              <a:pPr algn="just">
                <a:lnSpc>
                  <a:spcPts val="4373"/>
                </a:lnSpc>
              </a:pPr>
              <a:endParaRPr lang="en-US" sz="3123">
                <a:solidFill>
                  <a:srgbClr val="94DDDE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algn="just">
                <a:lnSpc>
                  <a:spcPts val="4373"/>
                </a:lnSpc>
              </a:pPr>
              <a:endParaRPr lang="en-US" sz="3123">
                <a:solidFill>
                  <a:srgbClr val="94DDD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" name="Freeform 5"/>
          <p:cNvSpPr/>
          <p:nvPr/>
        </p:nvSpPr>
        <p:spPr>
          <a:xfrm>
            <a:off x="13741464" y="-1532598"/>
            <a:ext cx="3874545" cy="5122596"/>
          </a:xfrm>
          <a:custGeom>
            <a:avLst/>
            <a:gdLst/>
            <a:ahLst/>
            <a:cxnLst/>
            <a:rect l="l" t="t" r="r" b="b"/>
            <a:pathLst>
              <a:path w="3874545" h="5122596">
                <a:moveTo>
                  <a:pt x="0" y="0"/>
                </a:moveTo>
                <a:lnTo>
                  <a:pt x="3874545" y="0"/>
                </a:lnTo>
                <a:lnTo>
                  <a:pt x="3874545" y="5122596"/>
                </a:lnTo>
                <a:lnTo>
                  <a:pt x="0" y="51225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4413455" y="-1268851"/>
            <a:ext cx="3874545" cy="5122596"/>
          </a:xfrm>
          <a:custGeom>
            <a:avLst/>
            <a:gdLst/>
            <a:ahLst/>
            <a:cxnLst/>
            <a:rect l="l" t="t" r="r" b="b"/>
            <a:pathLst>
              <a:path w="3874545" h="5122596">
                <a:moveTo>
                  <a:pt x="0" y="0"/>
                </a:moveTo>
                <a:lnTo>
                  <a:pt x="3874545" y="0"/>
                </a:lnTo>
                <a:lnTo>
                  <a:pt x="3874545" y="5122596"/>
                </a:lnTo>
                <a:lnTo>
                  <a:pt x="0" y="51225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5322027" y="-1020597"/>
            <a:ext cx="3874545" cy="5122596"/>
          </a:xfrm>
          <a:custGeom>
            <a:avLst/>
            <a:gdLst/>
            <a:ahLst/>
            <a:cxnLst/>
            <a:rect l="l" t="t" r="r" b="b"/>
            <a:pathLst>
              <a:path w="3874545" h="5122596">
                <a:moveTo>
                  <a:pt x="0" y="0"/>
                </a:moveTo>
                <a:lnTo>
                  <a:pt x="3874546" y="0"/>
                </a:lnTo>
                <a:lnTo>
                  <a:pt x="3874546" y="5122595"/>
                </a:lnTo>
                <a:lnTo>
                  <a:pt x="0" y="51225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4B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4303078"/>
            <a:ext cx="18288000" cy="2370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20"/>
              </a:lnSpc>
            </a:pPr>
            <a:r>
              <a:rPr lang="en-US" sz="6800" b="1">
                <a:solidFill>
                  <a:srgbClr val="F7B4A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CHƯƠNG 2: PIPELINE TỔNG QUAN HỆ THỐNG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4B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37189" y="438197"/>
            <a:ext cx="12798005" cy="9410607"/>
            <a:chOff x="0" y="0"/>
            <a:chExt cx="17064007" cy="12547476"/>
          </a:xfrm>
        </p:grpSpPr>
        <p:sp>
          <p:nvSpPr>
            <p:cNvPr id="3" name="TextBox 3"/>
            <p:cNvSpPr txBox="1"/>
            <p:nvPr/>
          </p:nvSpPr>
          <p:spPr>
            <a:xfrm>
              <a:off x="717425" y="-123825"/>
              <a:ext cx="10014685" cy="26130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7350"/>
                </a:lnSpc>
              </a:pPr>
              <a:r>
                <a:rPr lang="en-US" sz="6125" b="1">
                  <a:solidFill>
                    <a:srgbClr val="F7B4A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1. Pipeline hệ thống (Quy trình xử lí)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5211542"/>
              <a:ext cx="17064007" cy="699474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707023" lvl="1" indent="-353511" algn="just">
                <a:lnSpc>
                  <a:spcPts val="4584"/>
                </a:lnSpc>
                <a:buFont typeface="Arial"/>
                <a:buChar char="•"/>
              </a:pPr>
              <a:r>
                <a:rPr lang="en-US" sz="3274">
                  <a:solidFill>
                    <a:srgbClr val="94DDDE"/>
                  </a:solidFill>
                  <a:latin typeface="Arial"/>
                  <a:ea typeface="Arial"/>
                  <a:cs typeface="Arial"/>
                  <a:sym typeface="Arial"/>
                </a:rPr>
                <a:t>Video Capture: Thu thập video từ camera</a:t>
              </a:r>
            </a:p>
            <a:p>
              <a:pPr marL="707023" lvl="1" indent="-353511" algn="just">
                <a:lnSpc>
                  <a:spcPts val="4584"/>
                </a:lnSpc>
                <a:buFont typeface="Arial"/>
                <a:buChar char="•"/>
              </a:pPr>
              <a:r>
                <a:rPr lang="en-US" sz="3274">
                  <a:solidFill>
                    <a:srgbClr val="94DDDE"/>
                  </a:solidFill>
                  <a:latin typeface="Arial"/>
                  <a:ea typeface="Arial"/>
                  <a:cs typeface="Arial"/>
                  <a:sym typeface="Arial"/>
                </a:rPr>
                <a:t>Image: Trích xuất từng khung hình từ video</a:t>
              </a:r>
            </a:p>
            <a:p>
              <a:pPr marL="707023" lvl="1" indent="-353511" algn="just">
                <a:lnSpc>
                  <a:spcPts val="4584"/>
                </a:lnSpc>
                <a:buFont typeface="Arial"/>
                <a:buChar char="•"/>
              </a:pPr>
              <a:r>
                <a:rPr lang="en-US" sz="3274">
                  <a:solidFill>
                    <a:srgbClr val="94DDDE"/>
                  </a:solidFill>
                  <a:latin typeface="Arial"/>
                  <a:ea typeface="Arial"/>
                  <a:cs typeface="Arial"/>
                  <a:sym typeface="Arial"/>
                </a:rPr>
                <a:t>Image Processing: Tiền xử lí ảnh (chuyển đổi màu, cân bằng sáng, lọc nhiễu)</a:t>
              </a:r>
            </a:p>
            <a:p>
              <a:pPr marL="707023" lvl="1" indent="-353511" algn="just">
                <a:lnSpc>
                  <a:spcPts val="4584"/>
                </a:lnSpc>
                <a:buFont typeface="Arial"/>
                <a:buChar char="•"/>
              </a:pPr>
              <a:r>
                <a:rPr lang="en-US" sz="3274">
                  <a:solidFill>
                    <a:srgbClr val="94DDDE"/>
                  </a:solidFill>
                  <a:latin typeface="Arial"/>
                  <a:ea typeface="Arial"/>
                  <a:cs typeface="Arial"/>
                  <a:sym typeface="Arial"/>
                </a:rPr>
                <a:t>Vehicle Detection: Phát hiện phương tiện bằng YOLO</a:t>
              </a:r>
            </a:p>
            <a:p>
              <a:pPr marL="707023" lvl="1" indent="-353511" algn="just">
                <a:lnSpc>
                  <a:spcPts val="4584"/>
                </a:lnSpc>
                <a:buFont typeface="Arial"/>
                <a:buChar char="•"/>
              </a:pPr>
              <a:r>
                <a:rPr lang="en-US" sz="3274">
                  <a:solidFill>
                    <a:srgbClr val="94DDDE"/>
                  </a:solidFill>
                  <a:latin typeface="Arial"/>
                  <a:ea typeface="Arial"/>
                  <a:cs typeface="Arial"/>
                  <a:sym typeface="Arial"/>
                </a:rPr>
                <a:t>Plate Detection: Phát hiện bằng biển số xe</a:t>
              </a:r>
            </a:p>
            <a:p>
              <a:pPr marL="707023" lvl="1" indent="-353511" algn="just">
                <a:lnSpc>
                  <a:spcPts val="4584"/>
                </a:lnSpc>
                <a:buFont typeface="Arial"/>
                <a:buChar char="•"/>
              </a:pPr>
              <a:r>
                <a:rPr lang="en-US" sz="3274">
                  <a:solidFill>
                    <a:srgbClr val="94DDDE"/>
                  </a:solidFill>
                  <a:latin typeface="Arial"/>
                  <a:ea typeface="Arial"/>
                  <a:cs typeface="Arial"/>
                  <a:sym typeface="Arial"/>
                </a:rPr>
                <a:t>Plate OCR: Nhận diện ký tự trên biển số</a:t>
              </a:r>
            </a:p>
            <a:p>
              <a:pPr marL="707023" lvl="1" indent="-353511" algn="just">
                <a:lnSpc>
                  <a:spcPts val="4584"/>
                </a:lnSpc>
                <a:buFont typeface="Arial"/>
                <a:buChar char="•"/>
              </a:pPr>
              <a:r>
                <a:rPr lang="en-US" sz="3274">
                  <a:solidFill>
                    <a:srgbClr val="94DDDE"/>
                  </a:solidFill>
                  <a:latin typeface="Arial"/>
                  <a:ea typeface="Arial"/>
                  <a:cs typeface="Arial"/>
                  <a:sym typeface="Arial"/>
                </a:rPr>
                <a:t>Vehicle Tracking: Gán ID theo dõi phương tiện qua các khung hình</a:t>
              </a:r>
            </a:p>
          </p:txBody>
        </p:sp>
      </p:grpSp>
      <p:sp>
        <p:nvSpPr>
          <p:cNvPr id="5" name="Freeform 5"/>
          <p:cNvSpPr/>
          <p:nvPr/>
        </p:nvSpPr>
        <p:spPr>
          <a:xfrm>
            <a:off x="13384755" y="-227349"/>
            <a:ext cx="3874545" cy="5122596"/>
          </a:xfrm>
          <a:custGeom>
            <a:avLst/>
            <a:gdLst/>
            <a:ahLst/>
            <a:cxnLst/>
            <a:rect l="l" t="t" r="r" b="b"/>
            <a:pathLst>
              <a:path w="3874545" h="5122596">
                <a:moveTo>
                  <a:pt x="0" y="0"/>
                </a:moveTo>
                <a:lnTo>
                  <a:pt x="3874545" y="0"/>
                </a:lnTo>
                <a:lnTo>
                  <a:pt x="3874545" y="5122596"/>
                </a:lnTo>
                <a:lnTo>
                  <a:pt x="0" y="51225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4972466" y="-227349"/>
            <a:ext cx="3874545" cy="5122596"/>
          </a:xfrm>
          <a:custGeom>
            <a:avLst/>
            <a:gdLst/>
            <a:ahLst/>
            <a:cxnLst/>
            <a:rect l="l" t="t" r="r" b="b"/>
            <a:pathLst>
              <a:path w="3874545" h="5122596">
                <a:moveTo>
                  <a:pt x="0" y="0"/>
                </a:moveTo>
                <a:lnTo>
                  <a:pt x="3874546" y="0"/>
                </a:lnTo>
                <a:lnTo>
                  <a:pt x="3874546" y="5122596"/>
                </a:lnTo>
                <a:lnTo>
                  <a:pt x="0" y="51225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4B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3575450"/>
            <a:ext cx="16466018" cy="3885374"/>
          </a:xfrm>
          <a:custGeom>
            <a:avLst/>
            <a:gdLst/>
            <a:ahLst/>
            <a:cxnLst/>
            <a:rect l="l" t="t" r="r" b="b"/>
            <a:pathLst>
              <a:path w="16466018" h="3885374">
                <a:moveTo>
                  <a:pt x="0" y="0"/>
                </a:moveTo>
                <a:lnTo>
                  <a:pt x="16466018" y="0"/>
                </a:lnTo>
                <a:lnTo>
                  <a:pt x="16466018" y="3885374"/>
                </a:lnTo>
                <a:lnTo>
                  <a:pt x="0" y="38853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801" b="-880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946784" y="566380"/>
            <a:ext cx="4119682" cy="8008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76"/>
              </a:lnSpc>
              <a:spcBef>
                <a:spcPct val="0"/>
              </a:spcBef>
            </a:pPr>
            <a:r>
              <a:rPr lang="en-US" sz="4443" b="1">
                <a:solidFill>
                  <a:srgbClr val="F7B4A7"/>
                </a:solidFill>
                <a:latin typeface="Arial Bold"/>
                <a:ea typeface="Arial Bold"/>
                <a:cs typeface="Arial Bold"/>
                <a:sym typeface="Arial Bold"/>
              </a:rPr>
              <a:t>Sơ đồ Pipeline: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4B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942975"/>
            <a:ext cx="9734462" cy="800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698"/>
              </a:lnSpc>
            </a:pPr>
            <a:r>
              <a:rPr lang="en-US" sz="4748" b="1">
                <a:solidFill>
                  <a:srgbClr val="F7B4A7"/>
                </a:solidFill>
                <a:latin typeface="Arial Bold"/>
                <a:ea typeface="Arial Bold"/>
                <a:cs typeface="Arial Bold"/>
                <a:sym typeface="Arial Bold"/>
              </a:rPr>
              <a:t>2. Thu thập video (Video Capture)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0" y="4748053"/>
            <a:ext cx="16164054" cy="1992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90712" lvl="1" indent="-395356" algn="just">
              <a:lnSpc>
                <a:spcPts val="5127"/>
              </a:lnSpc>
              <a:buFont typeface="Arial"/>
              <a:buChar char="•"/>
            </a:pPr>
            <a:r>
              <a:rPr lang="en-US" sz="3662">
                <a:solidFill>
                  <a:srgbClr val="94DDDE"/>
                </a:solidFill>
                <a:latin typeface="Arial"/>
                <a:ea typeface="Arial"/>
                <a:cs typeface="Arial"/>
                <a:sym typeface="Arial"/>
              </a:rPr>
              <a:t>Thu thập video từ các cameragiams sát hoặc luồng stream</a:t>
            </a:r>
          </a:p>
          <a:p>
            <a:pPr marL="790712" lvl="1" indent="-395356" algn="just">
              <a:lnSpc>
                <a:spcPts val="5127"/>
              </a:lnSpc>
              <a:buFont typeface="Arial"/>
              <a:buChar char="•"/>
            </a:pPr>
            <a:r>
              <a:rPr lang="en-US" sz="3662">
                <a:solidFill>
                  <a:srgbClr val="94DDDE"/>
                </a:solidFill>
                <a:latin typeface="Arial"/>
                <a:ea typeface="Arial"/>
                <a:cs typeface="Arial"/>
                <a:sym typeface="Arial"/>
              </a:rPr>
              <a:t>Đầu vào: Video đa luồng từ camera.</a:t>
            </a:r>
          </a:p>
          <a:p>
            <a:pPr marL="790712" lvl="1" indent="-395356" algn="just">
              <a:lnSpc>
                <a:spcPts val="5127"/>
              </a:lnSpc>
              <a:buFont typeface="Arial"/>
              <a:buChar char="•"/>
            </a:pPr>
            <a:r>
              <a:rPr lang="en-US" sz="3662">
                <a:solidFill>
                  <a:srgbClr val="94DDDE"/>
                </a:solidFill>
                <a:latin typeface="Arial"/>
                <a:ea typeface="Arial"/>
                <a:cs typeface="Arial"/>
                <a:sym typeface="Arial"/>
              </a:rPr>
              <a:t>Đầu ra: Các khung hình (frames) được trích từ video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4B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15650" t="4790" b="18678"/>
          <a:stretch>
            <a:fillRect/>
          </a:stretch>
        </p:blipFill>
        <p:spPr>
          <a:xfrm>
            <a:off x="1697355" y="0"/>
            <a:ext cx="14963461" cy="101823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10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4B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757934" y="4929002"/>
            <a:ext cx="5200223" cy="5919621"/>
          </a:xfrm>
          <a:custGeom>
            <a:avLst/>
            <a:gdLst/>
            <a:ahLst/>
            <a:cxnLst/>
            <a:rect l="l" t="t" r="r" b="b"/>
            <a:pathLst>
              <a:path w="5200223" h="5919621">
                <a:moveTo>
                  <a:pt x="0" y="0"/>
                </a:moveTo>
                <a:lnTo>
                  <a:pt x="5200223" y="0"/>
                </a:lnTo>
                <a:lnTo>
                  <a:pt x="5200223" y="5919621"/>
                </a:lnTo>
                <a:lnTo>
                  <a:pt x="0" y="59196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3572178" y="4929002"/>
            <a:ext cx="4549327" cy="5564685"/>
          </a:xfrm>
          <a:custGeom>
            <a:avLst/>
            <a:gdLst/>
            <a:ahLst/>
            <a:cxnLst/>
            <a:rect l="l" t="t" r="r" b="b"/>
            <a:pathLst>
              <a:path w="4549327" h="5564685">
                <a:moveTo>
                  <a:pt x="0" y="0"/>
                </a:moveTo>
                <a:lnTo>
                  <a:pt x="4549327" y="0"/>
                </a:lnTo>
                <a:lnTo>
                  <a:pt x="4549327" y="5564685"/>
                </a:lnTo>
                <a:lnTo>
                  <a:pt x="0" y="55646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028700" y="857250"/>
            <a:ext cx="14818142" cy="820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020"/>
              </a:lnSpc>
              <a:spcBef>
                <a:spcPct val="0"/>
              </a:spcBef>
            </a:pPr>
            <a:r>
              <a:rPr lang="en-US" sz="4300">
                <a:solidFill>
                  <a:srgbClr val="F0ABC1"/>
                </a:solidFill>
                <a:latin typeface="Arial"/>
                <a:ea typeface="Arial"/>
                <a:cs typeface="Arial"/>
                <a:sym typeface="Arial"/>
              </a:rPr>
              <a:t>3.Thu thập và tiền xử lí ảnh (Image &amp; Image Processing)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1795031"/>
            <a:ext cx="12255103" cy="2943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26572" lvl="1" indent="-363286" algn="just">
              <a:lnSpc>
                <a:spcPts val="4711"/>
              </a:lnSpc>
              <a:buFont typeface="Arial"/>
              <a:buChar char="•"/>
            </a:pPr>
            <a:r>
              <a:rPr lang="en-US" sz="3365" dirty="0" err="1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Chuẩn</a:t>
            </a:r>
            <a:r>
              <a:rPr lang="en-US" sz="3365" dirty="0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 </a:t>
            </a:r>
            <a:r>
              <a:rPr lang="en-US" sz="3365" dirty="0" err="1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bị</a:t>
            </a:r>
            <a:r>
              <a:rPr lang="en-US" sz="3365" dirty="0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 </a:t>
            </a:r>
            <a:r>
              <a:rPr lang="en-US" sz="3365" dirty="0" err="1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dữ</a:t>
            </a:r>
            <a:r>
              <a:rPr lang="en-US" sz="3365" dirty="0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 </a:t>
            </a:r>
            <a:r>
              <a:rPr lang="en-US" sz="3365" dirty="0" err="1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liệu</a:t>
            </a:r>
            <a:r>
              <a:rPr lang="en-US" sz="3365" dirty="0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 </a:t>
            </a:r>
            <a:r>
              <a:rPr lang="en-US" sz="3365" dirty="0" err="1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ảnh</a:t>
            </a:r>
            <a:r>
              <a:rPr lang="en-US" sz="3365" dirty="0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 </a:t>
            </a:r>
            <a:r>
              <a:rPr lang="en-US" sz="3365" dirty="0" err="1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cho</a:t>
            </a:r>
            <a:r>
              <a:rPr lang="en-US" sz="3365" dirty="0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 </a:t>
            </a:r>
            <a:r>
              <a:rPr lang="en-US" sz="3365" dirty="0" err="1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tiền</a:t>
            </a:r>
            <a:r>
              <a:rPr lang="en-US" sz="3365" dirty="0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 </a:t>
            </a:r>
            <a:r>
              <a:rPr lang="en-US" sz="3365" dirty="0" err="1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xử</a:t>
            </a:r>
            <a:r>
              <a:rPr lang="en-US" sz="3365" dirty="0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 </a:t>
            </a:r>
            <a:r>
              <a:rPr lang="en-US" sz="3365" dirty="0" err="1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lí</a:t>
            </a:r>
            <a:r>
              <a:rPr lang="en-US" sz="3365" dirty="0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 </a:t>
            </a:r>
            <a:r>
              <a:rPr lang="en-US" sz="3365" dirty="0" err="1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ảnh</a:t>
            </a:r>
            <a:endParaRPr lang="en-US" sz="3365" dirty="0">
              <a:solidFill>
                <a:srgbClr val="94DDDE"/>
              </a:solidFill>
              <a:latin typeface="Arial" panose="020B0604020202020204" pitchFamily="34" charset="0"/>
              <a:ea typeface="Noto Serif Display"/>
              <a:cs typeface="Arial" panose="020B0604020202020204" pitchFamily="34" charset="0"/>
              <a:sym typeface="Noto Serif Display"/>
            </a:endParaRPr>
          </a:p>
          <a:p>
            <a:pPr marL="726572" lvl="1" indent="-363286" algn="just">
              <a:lnSpc>
                <a:spcPts val="4711"/>
              </a:lnSpc>
              <a:buFont typeface="Arial"/>
              <a:buChar char="•"/>
            </a:pPr>
            <a:r>
              <a:rPr lang="en-US" sz="3365" dirty="0" err="1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Chuyển</a:t>
            </a:r>
            <a:r>
              <a:rPr lang="en-US" sz="3365" dirty="0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 </a:t>
            </a:r>
            <a:r>
              <a:rPr lang="en-US" sz="3365" dirty="0" err="1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đổi</a:t>
            </a:r>
            <a:r>
              <a:rPr lang="en-US" sz="3365" dirty="0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 </a:t>
            </a:r>
            <a:r>
              <a:rPr lang="en-US" sz="3365" dirty="0" err="1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ảnh</a:t>
            </a:r>
            <a:r>
              <a:rPr lang="en-US" sz="3365" dirty="0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 </a:t>
            </a:r>
            <a:r>
              <a:rPr lang="en-US" sz="3365" dirty="0" err="1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màu</a:t>
            </a:r>
            <a:r>
              <a:rPr lang="en-US" sz="3365" dirty="0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 sang </a:t>
            </a:r>
            <a:r>
              <a:rPr lang="en-US" sz="3365" dirty="0" err="1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ảnh</a:t>
            </a:r>
            <a:r>
              <a:rPr lang="en-US" sz="3365" dirty="0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 </a:t>
            </a:r>
            <a:r>
              <a:rPr lang="en-US" sz="3365" dirty="0" err="1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xám</a:t>
            </a:r>
            <a:r>
              <a:rPr lang="en-US" sz="3365" dirty="0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 (grayscale)</a:t>
            </a:r>
          </a:p>
          <a:p>
            <a:pPr marL="726572" lvl="1" indent="-363286" algn="just">
              <a:lnSpc>
                <a:spcPts val="4711"/>
              </a:lnSpc>
              <a:buFont typeface="Arial"/>
              <a:buChar char="•"/>
            </a:pPr>
            <a:r>
              <a:rPr lang="en-US" sz="3365" dirty="0" err="1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Cân</a:t>
            </a:r>
            <a:r>
              <a:rPr lang="en-US" sz="3365" dirty="0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 </a:t>
            </a:r>
            <a:r>
              <a:rPr lang="en-US" sz="3365" dirty="0" err="1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bằng</a:t>
            </a:r>
            <a:r>
              <a:rPr lang="en-US" sz="3365" dirty="0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 </a:t>
            </a:r>
            <a:r>
              <a:rPr lang="en-US" sz="3365" dirty="0" err="1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độ</a:t>
            </a:r>
            <a:r>
              <a:rPr lang="en-US" sz="3365" dirty="0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 </a:t>
            </a:r>
            <a:r>
              <a:rPr lang="en-US" sz="3365" dirty="0" err="1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sáng</a:t>
            </a:r>
            <a:r>
              <a:rPr lang="en-US" sz="3365" dirty="0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 </a:t>
            </a:r>
            <a:r>
              <a:rPr lang="en-US" sz="3365" dirty="0" err="1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của</a:t>
            </a:r>
            <a:r>
              <a:rPr lang="en-US" sz="3365" dirty="0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 </a:t>
            </a:r>
            <a:r>
              <a:rPr lang="en-US" sz="3365" dirty="0" err="1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ảnh</a:t>
            </a:r>
            <a:endParaRPr lang="en-US" sz="3365" dirty="0">
              <a:solidFill>
                <a:srgbClr val="94DDDE"/>
              </a:solidFill>
              <a:latin typeface="Arial" panose="020B0604020202020204" pitchFamily="34" charset="0"/>
              <a:ea typeface="Noto Serif Display"/>
              <a:cs typeface="Arial" panose="020B0604020202020204" pitchFamily="34" charset="0"/>
              <a:sym typeface="Noto Serif Display"/>
            </a:endParaRPr>
          </a:p>
          <a:p>
            <a:pPr marL="726572" lvl="1" indent="-363286" algn="just">
              <a:lnSpc>
                <a:spcPts val="4711"/>
              </a:lnSpc>
              <a:buFont typeface="Arial"/>
              <a:buChar char="•"/>
            </a:pPr>
            <a:r>
              <a:rPr lang="en-US" sz="3365" dirty="0" err="1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Lọc</a:t>
            </a:r>
            <a:r>
              <a:rPr lang="en-US" sz="3365" dirty="0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 </a:t>
            </a:r>
            <a:r>
              <a:rPr lang="en-US" sz="3365" dirty="0" err="1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nhiễu</a:t>
            </a:r>
            <a:endParaRPr lang="en-US" sz="3365" dirty="0">
              <a:solidFill>
                <a:srgbClr val="94DDDE"/>
              </a:solidFill>
              <a:latin typeface="Arial" panose="020B0604020202020204" pitchFamily="34" charset="0"/>
              <a:ea typeface="Noto Serif Display"/>
              <a:cs typeface="Arial" panose="020B0604020202020204" pitchFamily="34" charset="0"/>
              <a:sym typeface="Noto Serif Display"/>
            </a:endParaRPr>
          </a:p>
          <a:p>
            <a:pPr marL="726572" lvl="1" indent="-363286" algn="just">
              <a:lnSpc>
                <a:spcPts val="4711"/>
              </a:lnSpc>
              <a:buFont typeface="Arial"/>
              <a:buChar char="•"/>
            </a:pPr>
            <a:r>
              <a:rPr lang="en-US" sz="3365" dirty="0" err="1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Mục</a:t>
            </a:r>
            <a:r>
              <a:rPr lang="en-US" sz="3365" dirty="0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 </a:t>
            </a:r>
            <a:r>
              <a:rPr lang="en-US" sz="3365" dirty="0" err="1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tiêu</a:t>
            </a:r>
            <a:r>
              <a:rPr lang="en-US" sz="3365" dirty="0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: </a:t>
            </a:r>
            <a:r>
              <a:rPr lang="en-US" sz="3365" dirty="0" err="1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chuẩn</a:t>
            </a:r>
            <a:r>
              <a:rPr lang="en-US" sz="3365" dirty="0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 </a:t>
            </a:r>
            <a:r>
              <a:rPr lang="en-US" sz="3365" dirty="0" err="1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bị</a:t>
            </a:r>
            <a:r>
              <a:rPr lang="en-US" sz="3365" dirty="0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 </a:t>
            </a:r>
            <a:r>
              <a:rPr lang="en-US" sz="3365" dirty="0" err="1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dữ</a:t>
            </a:r>
            <a:r>
              <a:rPr lang="en-US" sz="3365" dirty="0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 </a:t>
            </a:r>
            <a:r>
              <a:rPr lang="en-US" sz="3365" dirty="0" err="1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liệu</a:t>
            </a:r>
            <a:r>
              <a:rPr lang="en-US" sz="3365" dirty="0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 </a:t>
            </a:r>
            <a:r>
              <a:rPr lang="en-US" sz="3365" dirty="0" err="1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đầu</a:t>
            </a:r>
            <a:r>
              <a:rPr lang="en-US" sz="3365" dirty="0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 </a:t>
            </a:r>
            <a:r>
              <a:rPr lang="en-US" sz="3365" dirty="0" err="1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vào</a:t>
            </a:r>
            <a:r>
              <a:rPr lang="en-US" sz="3365" dirty="0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 </a:t>
            </a:r>
            <a:r>
              <a:rPr lang="en-US" sz="3365" dirty="0" err="1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cho</a:t>
            </a:r>
            <a:r>
              <a:rPr lang="en-US" sz="3365" dirty="0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 </a:t>
            </a:r>
            <a:r>
              <a:rPr lang="en-US" sz="3365" dirty="0" err="1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các</a:t>
            </a:r>
            <a:r>
              <a:rPr lang="en-US" sz="3365" dirty="0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 </a:t>
            </a:r>
            <a:r>
              <a:rPr lang="en-US" sz="3365" dirty="0" err="1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bước</a:t>
            </a:r>
            <a:r>
              <a:rPr lang="en-US" sz="3365" dirty="0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 </a:t>
            </a:r>
            <a:r>
              <a:rPr lang="en-US" sz="3365" dirty="0" err="1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tiếp</a:t>
            </a:r>
            <a:r>
              <a:rPr lang="en-US" sz="3365" dirty="0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 </a:t>
            </a:r>
            <a:r>
              <a:rPr lang="en-US" sz="3365" dirty="0" err="1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theo</a:t>
            </a:r>
            <a:endParaRPr lang="en-US" sz="3365" dirty="0">
              <a:solidFill>
                <a:srgbClr val="94DDDE"/>
              </a:solidFill>
              <a:latin typeface="Arial" panose="020B0604020202020204" pitchFamily="34" charset="0"/>
              <a:ea typeface="Noto Serif Display"/>
              <a:cs typeface="Arial" panose="020B0604020202020204" pitchFamily="34" charset="0"/>
              <a:sym typeface="Noto Serif Display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380536" y="6662873"/>
            <a:ext cx="3095625" cy="5502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11"/>
              </a:lnSpc>
              <a:spcBef>
                <a:spcPct val="0"/>
              </a:spcBef>
            </a:pPr>
            <a:r>
              <a:rPr lang="en-US" sz="3365" dirty="0" err="1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Trước</a:t>
            </a:r>
            <a:r>
              <a:rPr lang="en-US" sz="3365" dirty="0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 </a:t>
            </a:r>
            <a:r>
              <a:rPr lang="en-US" sz="3365" dirty="0" err="1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khi</a:t>
            </a:r>
            <a:r>
              <a:rPr lang="en-US" sz="3365" dirty="0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 </a:t>
            </a:r>
            <a:r>
              <a:rPr lang="en-US" sz="3365" dirty="0" err="1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xử</a:t>
            </a:r>
            <a:r>
              <a:rPr lang="en-US" sz="3365" dirty="0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 </a:t>
            </a:r>
            <a:r>
              <a:rPr lang="en-US" sz="3365" dirty="0" err="1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lí</a:t>
            </a:r>
            <a:r>
              <a:rPr lang="en-US" sz="3365" dirty="0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588114" y="6662873"/>
            <a:ext cx="2984063" cy="5502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11"/>
              </a:lnSpc>
              <a:spcBef>
                <a:spcPct val="0"/>
              </a:spcBef>
            </a:pPr>
            <a:r>
              <a:rPr lang="en-US" sz="3365" dirty="0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Sau </a:t>
            </a:r>
            <a:r>
              <a:rPr lang="en-US" sz="3365" dirty="0" err="1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khi</a:t>
            </a:r>
            <a:r>
              <a:rPr lang="en-US" sz="3365" dirty="0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 </a:t>
            </a:r>
            <a:r>
              <a:rPr lang="en-US" sz="3365" dirty="0" err="1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xử</a:t>
            </a:r>
            <a:r>
              <a:rPr lang="en-US" sz="3365" dirty="0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 </a:t>
            </a:r>
            <a:r>
              <a:rPr lang="en-US" sz="3365" dirty="0" err="1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lí</a:t>
            </a:r>
            <a:r>
              <a:rPr lang="en-US" sz="3365" dirty="0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: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4B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t="19187" b="16812"/>
          <a:stretch>
            <a:fillRect/>
          </a:stretch>
        </p:blipFill>
        <p:spPr>
          <a:xfrm>
            <a:off x="2130504" y="3612570"/>
            <a:ext cx="13905121" cy="667443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028700" y="857250"/>
            <a:ext cx="11640495" cy="820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020"/>
              </a:lnSpc>
              <a:spcBef>
                <a:spcPct val="0"/>
              </a:spcBef>
            </a:pPr>
            <a:r>
              <a:rPr lang="en-US" sz="4300">
                <a:solidFill>
                  <a:srgbClr val="F0ABC1"/>
                </a:solidFill>
                <a:latin typeface="Arial"/>
                <a:ea typeface="Arial"/>
                <a:cs typeface="Arial"/>
                <a:sym typeface="Arial"/>
              </a:rPr>
              <a:t>4. Phát hiện phương tiện (Vehicle Detection)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1850199"/>
            <a:ext cx="15805309" cy="17623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26572" lvl="1" indent="-363286" algn="just">
              <a:lnSpc>
                <a:spcPts val="4711"/>
              </a:lnSpc>
              <a:buFont typeface="Arial"/>
              <a:buChar char="•"/>
            </a:pPr>
            <a:r>
              <a:rPr lang="en-US" sz="3365" dirty="0" err="1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Sử</a:t>
            </a:r>
            <a:r>
              <a:rPr lang="en-US" sz="3365" dirty="0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 </a:t>
            </a:r>
            <a:r>
              <a:rPr lang="en-US" sz="3365" dirty="0" err="1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dụng</a:t>
            </a:r>
            <a:r>
              <a:rPr lang="en-US" sz="3365" dirty="0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 </a:t>
            </a:r>
            <a:r>
              <a:rPr lang="en-US" sz="3365" dirty="0" err="1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mô</a:t>
            </a:r>
            <a:r>
              <a:rPr lang="en-US" sz="3365" dirty="0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 </a:t>
            </a:r>
            <a:r>
              <a:rPr lang="en-US" sz="3365" dirty="0" err="1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hình</a:t>
            </a:r>
            <a:r>
              <a:rPr lang="en-US" sz="3365" dirty="0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 YOLOv8 </a:t>
            </a:r>
            <a:r>
              <a:rPr lang="en-US" sz="3365" dirty="0" err="1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để</a:t>
            </a:r>
            <a:r>
              <a:rPr lang="en-US" sz="3365" dirty="0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 </a:t>
            </a:r>
            <a:r>
              <a:rPr lang="en-US" sz="3365" dirty="0" err="1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phát</a:t>
            </a:r>
            <a:r>
              <a:rPr lang="en-US" sz="3365" dirty="0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 </a:t>
            </a:r>
            <a:r>
              <a:rPr lang="en-US" sz="3365" dirty="0" err="1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hiện</a:t>
            </a:r>
            <a:r>
              <a:rPr lang="en-US" sz="3365" dirty="0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 </a:t>
            </a:r>
            <a:r>
              <a:rPr lang="en-US" sz="3365" dirty="0" err="1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phương</a:t>
            </a:r>
            <a:r>
              <a:rPr lang="en-US" sz="3365" dirty="0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 </a:t>
            </a:r>
            <a:r>
              <a:rPr lang="en-US" sz="3365" dirty="0" err="1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tiện</a:t>
            </a:r>
            <a:r>
              <a:rPr lang="en-US" sz="3365" dirty="0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 </a:t>
            </a:r>
            <a:r>
              <a:rPr lang="en-US" sz="3365" dirty="0" err="1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trong</a:t>
            </a:r>
            <a:r>
              <a:rPr lang="en-US" sz="3365" dirty="0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 </a:t>
            </a:r>
            <a:r>
              <a:rPr lang="en-US" sz="3365" dirty="0" err="1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từng</a:t>
            </a:r>
            <a:r>
              <a:rPr lang="en-US" sz="3365" dirty="0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 </a:t>
            </a:r>
            <a:r>
              <a:rPr lang="en-US" sz="3365" dirty="0" err="1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khung</a:t>
            </a:r>
            <a:r>
              <a:rPr lang="en-US" sz="3365" dirty="0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 </a:t>
            </a:r>
            <a:r>
              <a:rPr lang="en-US" sz="3365" dirty="0" err="1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hình</a:t>
            </a:r>
            <a:endParaRPr lang="en-US" sz="3365" dirty="0">
              <a:solidFill>
                <a:srgbClr val="94DDDE"/>
              </a:solidFill>
              <a:latin typeface="Arial" panose="020B0604020202020204" pitchFamily="34" charset="0"/>
              <a:ea typeface="Noto Serif Display"/>
              <a:cs typeface="Arial" panose="020B0604020202020204" pitchFamily="34" charset="0"/>
              <a:sym typeface="Noto Serif Display"/>
            </a:endParaRPr>
          </a:p>
          <a:p>
            <a:pPr marL="726572" lvl="1" indent="-363286" algn="just">
              <a:lnSpc>
                <a:spcPts val="4711"/>
              </a:lnSpc>
              <a:buFont typeface="Arial"/>
              <a:buChar char="•"/>
            </a:pPr>
            <a:r>
              <a:rPr lang="en-US" sz="3365" dirty="0" err="1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Ưu</a:t>
            </a:r>
            <a:r>
              <a:rPr lang="en-US" sz="3365" dirty="0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 </a:t>
            </a:r>
            <a:r>
              <a:rPr lang="en-US" sz="3365" dirty="0" err="1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điểm</a:t>
            </a:r>
            <a:r>
              <a:rPr lang="en-US" sz="3365" dirty="0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: </a:t>
            </a:r>
            <a:r>
              <a:rPr lang="en-US" sz="3365" dirty="0" err="1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Tốc</a:t>
            </a:r>
            <a:r>
              <a:rPr lang="en-US" sz="3365" dirty="0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 </a:t>
            </a:r>
            <a:r>
              <a:rPr lang="en-US" sz="3365" dirty="0" err="1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độ</a:t>
            </a:r>
            <a:r>
              <a:rPr lang="en-US" sz="3365" dirty="0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 </a:t>
            </a:r>
            <a:r>
              <a:rPr lang="en-US" sz="3365" dirty="0" err="1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xử</a:t>
            </a:r>
            <a:r>
              <a:rPr lang="en-US" sz="3365" dirty="0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 </a:t>
            </a:r>
            <a:r>
              <a:rPr lang="en-US" sz="3365" dirty="0" err="1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lí</a:t>
            </a:r>
            <a:r>
              <a:rPr lang="en-US" sz="3365" dirty="0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 </a:t>
            </a:r>
            <a:r>
              <a:rPr lang="en-US" sz="3365" dirty="0" err="1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nhanh</a:t>
            </a:r>
            <a:r>
              <a:rPr lang="en-US" sz="3365" dirty="0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, </a:t>
            </a:r>
            <a:r>
              <a:rPr lang="en-US" sz="3365" dirty="0" err="1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độ</a:t>
            </a:r>
            <a:r>
              <a:rPr lang="en-US" sz="3365" dirty="0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 </a:t>
            </a:r>
            <a:r>
              <a:rPr lang="en-US" sz="3365" dirty="0" err="1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chính</a:t>
            </a:r>
            <a:r>
              <a:rPr lang="en-US" sz="3365" dirty="0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 </a:t>
            </a:r>
            <a:r>
              <a:rPr lang="en-US" sz="3365" dirty="0" err="1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xác</a:t>
            </a:r>
            <a:r>
              <a:rPr lang="en-US" sz="3365" dirty="0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 </a:t>
            </a:r>
            <a:r>
              <a:rPr lang="en-US" sz="3365" dirty="0" err="1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cao</a:t>
            </a:r>
            <a:endParaRPr lang="en-US" sz="3365" dirty="0">
              <a:solidFill>
                <a:srgbClr val="94DDDE"/>
              </a:solidFill>
              <a:latin typeface="Arial" panose="020B0604020202020204" pitchFamily="34" charset="0"/>
              <a:ea typeface="Noto Serif Display"/>
              <a:cs typeface="Arial" panose="020B0604020202020204" pitchFamily="34" charset="0"/>
              <a:sym typeface="Noto Serif Display"/>
            </a:endParaRPr>
          </a:p>
          <a:p>
            <a:pPr marL="726572" lvl="1" indent="-363286" algn="just">
              <a:lnSpc>
                <a:spcPts val="4711"/>
              </a:lnSpc>
              <a:buFont typeface="Arial"/>
              <a:buChar char="•"/>
            </a:pPr>
            <a:r>
              <a:rPr lang="en-US" sz="3365" dirty="0" err="1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Kết</a:t>
            </a:r>
            <a:r>
              <a:rPr lang="en-US" sz="3365" dirty="0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 </a:t>
            </a:r>
            <a:r>
              <a:rPr lang="en-US" sz="3365" dirty="0" err="1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quả</a:t>
            </a:r>
            <a:r>
              <a:rPr lang="en-US" sz="3365" dirty="0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: Bounding box </a:t>
            </a:r>
            <a:r>
              <a:rPr lang="en-US" sz="3365" dirty="0" err="1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xác</a:t>
            </a:r>
            <a:r>
              <a:rPr lang="en-US" sz="3365" dirty="0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 </a:t>
            </a:r>
            <a:r>
              <a:rPr lang="en-US" sz="3365" dirty="0" err="1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định</a:t>
            </a:r>
            <a:r>
              <a:rPr lang="en-US" sz="3365" dirty="0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 </a:t>
            </a:r>
            <a:r>
              <a:rPr lang="en-US" sz="3365" dirty="0" err="1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vị</a:t>
            </a:r>
            <a:r>
              <a:rPr lang="en-US" sz="3365" dirty="0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 </a:t>
            </a:r>
            <a:r>
              <a:rPr lang="en-US" sz="3365" dirty="0" err="1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trí</a:t>
            </a:r>
            <a:r>
              <a:rPr lang="en-US" sz="3365" dirty="0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 </a:t>
            </a:r>
            <a:r>
              <a:rPr lang="en-US" sz="3365" dirty="0" err="1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phương</a:t>
            </a:r>
            <a:r>
              <a:rPr lang="en-US" sz="3365" dirty="0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 </a:t>
            </a:r>
            <a:r>
              <a:rPr lang="en-US" sz="3365" dirty="0" err="1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tiện</a:t>
            </a:r>
            <a:endParaRPr lang="en-US" sz="3365" dirty="0">
              <a:solidFill>
                <a:srgbClr val="94DDDE"/>
              </a:solidFill>
              <a:latin typeface="Arial" panose="020B0604020202020204" pitchFamily="34" charset="0"/>
              <a:ea typeface="Noto Serif Display"/>
              <a:cs typeface="Arial" panose="020B0604020202020204" pitchFamily="34" charset="0"/>
              <a:sym typeface="Noto Serif Display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10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4B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167" t="20158" r="322" b="559"/>
          <a:stretch>
            <a:fillRect/>
          </a:stretch>
        </p:blipFill>
        <p:spPr>
          <a:xfrm>
            <a:off x="1321527" y="3612570"/>
            <a:ext cx="14927770" cy="6690005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028700" y="857250"/>
            <a:ext cx="11640495" cy="820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020"/>
              </a:lnSpc>
              <a:spcBef>
                <a:spcPct val="0"/>
              </a:spcBef>
            </a:pPr>
            <a:r>
              <a:rPr lang="en-US" sz="4300">
                <a:solidFill>
                  <a:srgbClr val="F0ABC1"/>
                </a:solidFill>
                <a:latin typeface="Arial"/>
                <a:ea typeface="Arial"/>
                <a:cs typeface="Arial"/>
                <a:sym typeface="Arial"/>
              </a:rPr>
              <a:t>5. Phát hiện biển số xe (Plate Detection)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1850199"/>
            <a:ext cx="12212717" cy="17623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26572" lvl="1" indent="-363286" algn="just">
              <a:lnSpc>
                <a:spcPts val="4711"/>
              </a:lnSpc>
              <a:buFont typeface="Arial"/>
              <a:buChar char="•"/>
            </a:pPr>
            <a:r>
              <a:rPr lang="en-US" sz="3365" dirty="0" err="1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Xác</a:t>
            </a:r>
            <a:r>
              <a:rPr lang="en-US" sz="3365" dirty="0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 </a:t>
            </a:r>
            <a:r>
              <a:rPr lang="en-US" sz="3365" dirty="0" err="1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định</a:t>
            </a:r>
            <a:r>
              <a:rPr lang="en-US" sz="3365" dirty="0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 </a:t>
            </a:r>
            <a:r>
              <a:rPr lang="en-US" sz="3365" dirty="0" err="1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vị</a:t>
            </a:r>
            <a:r>
              <a:rPr lang="en-US" sz="3365" dirty="0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 </a:t>
            </a:r>
            <a:r>
              <a:rPr lang="en-US" sz="3365" dirty="0" err="1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trí</a:t>
            </a:r>
            <a:r>
              <a:rPr lang="en-US" sz="3365" dirty="0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 </a:t>
            </a:r>
            <a:r>
              <a:rPr lang="en-US" sz="3365" dirty="0" err="1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của</a:t>
            </a:r>
            <a:r>
              <a:rPr lang="en-US" sz="3365" dirty="0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 </a:t>
            </a:r>
            <a:r>
              <a:rPr lang="en-US" sz="3365" dirty="0" err="1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biển</a:t>
            </a:r>
            <a:r>
              <a:rPr lang="en-US" sz="3365" dirty="0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 </a:t>
            </a:r>
            <a:r>
              <a:rPr lang="en-US" sz="3365" dirty="0" err="1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số</a:t>
            </a:r>
            <a:r>
              <a:rPr lang="en-US" sz="3365" dirty="0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 </a:t>
            </a:r>
            <a:r>
              <a:rPr lang="en-US" sz="3365" dirty="0" err="1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xe</a:t>
            </a:r>
            <a:r>
              <a:rPr lang="en-US" sz="3365" dirty="0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 </a:t>
            </a:r>
            <a:r>
              <a:rPr lang="en-US" sz="3365" dirty="0" err="1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trong</a:t>
            </a:r>
            <a:r>
              <a:rPr lang="en-US" sz="3365" dirty="0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 </a:t>
            </a:r>
            <a:r>
              <a:rPr lang="en-US" sz="3365" dirty="0" err="1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từng</a:t>
            </a:r>
            <a:r>
              <a:rPr lang="en-US" sz="3365" dirty="0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 </a:t>
            </a:r>
            <a:r>
              <a:rPr lang="en-US" sz="3365" dirty="0" err="1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khung</a:t>
            </a:r>
            <a:r>
              <a:rPr lang="en-US" sz="3365" dirty="0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 </a:t>
            </a:r>
            <a:r>
              <a:rPr lang="en-US" sz="3365" dirty="0" err="1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hình</a:t>
            </a:r>
            <a:endParaRPr lang="en-US" sz="3365" dirty="0">
              <a:solidFill>
                <a:srgbClr val="94DDDE"/>
              </a:solidFill>
              <a:latin typeface="Arial" panose="020B0604020202020204" pitchFamily="34" charset="0"/>
              <a:ea typeface="Noto Serif Display"/>
              <a:cs typeface="Arial" panose="020B0604020202020204" pitchFamily="34" charset="0"/>
              <a:sym typeface="Noto Serif Display"/>
            </a:endParaRPr>
          </a:p>
          <a:p>
            <a:pPr marL="726572" lvl="1" indent="-363286" algn="just">
              <a:lnSpc>
                <a:spcPts val="4711"/>
              </a:lnSpc>
              <a:buFont typeface="Arial"/>
              <a:buChar char="•"/>
            </a:pPr>
            <a:r>
              <a:rPr lang="en-US" sz="3365" dirty="0" err="1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Sử</a:t>
            </a:r>
            <a:r>
              <a:rPr lang="en-US" sz="3365" dirty="0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 </a:t>
            </a:r>
            <a:r>
              <a:rPr lang="en-US" sz="3365" dirty="0" err="1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dụng</a:t>
            </a:r>
            <a:r>
              <a:rPr lang="en-US" sz="3365" dirty="0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 YOLOv8 </a:t>
            </a:r>
            <a:r>
              <a:rPr lang="en-US" sz="3365" dirty="0" err="1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để</a:t>
            </a:r>
            <a:r>
              <a:rPr lang="en-US" sz="3365" dirty="0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 </a:t>
            </a:r>
            <a:r>
              <a:rPr lang="en-US" sz="3365" dirty="0" err="1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khoanh</a:t>
            </a:r>
            <a:r>
              <a:rPr lang="en-US" sz="3365" dirty="0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 </a:t>
            </a:r>
            <a:r>
              <a:rPr lang="en-US" sz="3365" dirty="0" err="1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vùng</a:t>
            </a:r>
            <a:r>
              <a:rPr lang="en-US" sz="3365" dirty="0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 </a:t>
            </a:r>
            <a:r>
              <a:rPr lang="en-US" sz="3365" dirty="0" err="1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và</a:t>
            </a:r>
            <a:r>
              <a:rPr lang="en-US" sz="3365" dirty="0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 </a:t>
            </a:r>
            <a:r>
              <a:rPr lang="en-US" sz="3365" dirty="0" err="1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phát</a:t>
            </a:r>
            <a:r>
              <a:rPr lang="en-US" sz="3365" dirty="0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 </a:t>
            </a:r>
            <a:r>
              <a:rPr lang="en-US" sz="3365" dirty="0" err="1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hiện</a:t>
            </a:r>
            <a:r>
              <a:rPr lang="en-US" sz="3365" dirty="0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 </a:t>
            </a:r>
            <a:r>
              <a:rPr lang="en-US" sz="3365" dirty="0" err="1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biển</a:t>
            </a:r>
            <a:r>
              <a:rPr lang="en-US" sz="3365" dirty="0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 </a:t>
            </a:r>
            <a:r>
              <a:rPr lang="en-US" sz="3365" dirty="0" err="1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số</a:t>
            </a:r>
            <a:r>
              <a:rPr lang="en-US" sz="3365" dirty="0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 </a:t>
            </a:r>
            <a:r>
              <a:rPr lang="en-US" sz="3365" dirty="0" err="1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xe</a:t>
            </a:r>
            <a:endParaRPr lang="en-US" sz="3365" dirty="0">
              <a:solidFill>
                <a:srgbClr val="94DDDE"/>
              </a:solidFill>
              <a:latin typeface="Arial" panose="020B0604020202020204" pitchFamily="34" charset="0"/>
              <a:ea typeface="Noto Serif Display"/>
              <a:cs typeface="Arial" panose="020B0604020202020204" pitchFamily="34" charset="0"/>
              <a:sym typeface="Noto Serif Display"/>
            </a:endParaRPr>
          </a:p>
          <a:p>
            <a:pPr marL="726572" lvl="1" indent="-363286" algn="just">
              <a:lnSpc>
                <a:spcPts val="4711"/>
              </a:lnSpc>
              <a:buFont typeface="Arial"/>
              <a:buChar char="•"/>
            </a:pPr>
            <a:r>
              <a:rPr lang="en-US" sz="3365" dirty="0" err="1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Kết</a:t>
            </a:r>
            <a:r>
              <a:rPr lang="en-US" sz="3365" dirty="0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 </a:t>
            </a:r>
            <a:r>
              <a:rPr lang="en-US" sz="3365" dirty="0" err="1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quả</a:t>
            </a:r>
            <a:r>
              <a:rPr lang="en-US" sz="3365" dirty="0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: Bounding box </a:t>
            </a:r>
            <a:r>
              <a:rPr lang="en-US" sz="3365" dirty="0" err="1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xác</a:t>
            </a:r>
            <a:r>
              <a:rPr lang="en-US" sz="3365" dirty="0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 </a:t>
            </a:r>
            <a:r>
              <a:rPr lang="en-US" sz="3365" dirty="0" err="1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định</a:t>
            </a:r>
            <a:r>
              <a:rPr lang="en-US" sz="3365" dirty="0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 </a:t>
            </a:r>
            <a:r>
              <a:rPr lang="en-US" sz="3365" dirty="0" err="1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vị</a:t>
            </a:r>
            <a:r>
              <a:rPr lang="en-US" sz="3365" dirty="0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 </a:t>
            </a:r>
            <a:r>
              <a:rPr lang="en-US" sz="3365" dirty="0" err="1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trí</a:t>
            </a:r>
            <a:r>
              <a:rPr lang="en-US" sz="3365" dirty="0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 </a:t>
            </a:r>
            <a:r>
              <a:rPr lang="en-US" sz="3365" dirty="0" err="1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biển</a:t>
            </a:r>
            <a:r>
              <a:rPr lang="en-US" sz="3365" dirty="0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 </a:t>
            </a:r>
            <a:r>
              <a:rPr lang="en-US" sz="3365" dirty="0" err="1">
                <a:solidFill>
                  <a:srgbClr val="94DDDE"/>
                </a:solidFill>
                <a:latin typeface="Arial" panose="020B0604020202020204" pitchFamily="34" charset="0"/>
                <a:ea typeface="Noto Serif Display"/>
                <a:cs typeface="Arial" panose="020B0604020202020204" pitchFamily="34" charset="0"/>
                <a:sym typeface="Noto Serif Display"/>
              </a:rPr>
              <a:t>số</a:t>
            </a:r>
            <a:endParaRPr lang="en-US" sz="3365" dirty="0">
              <a:solidFill>
                <a:srgbClr val="94DDDE"/>
              </a:solidFill>
              <a:latin typeface="Arial" panose="020B0604020202020204" pitchFamily="34" charset="0"/>
              <a:ea typeface="Noto Serif Display"/>
              <a:cs typeface="Arial" panose="020B0604020202020204" pitchFamily="34" charset="0"/>
              <a:sym typeface="Noto Serif Display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10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4B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t="21707" b="16526"/>
          <a:stretch>
            <a:fillRect/>
          </a:stretch>
        </p:blipFill>
        <p:spPr>
          <a:xfrm>
            <a:off x="1715931" y="3584986"/>
            <a:ext cx="14467604" cy="6702014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028700" y="857250"/>
            <a:ext cx="11640495" cy="820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020"/>
              </a:lnSpc>
              <a:spcBef>
                <a:spcPct val="0"/>
              </a:spcBef>
            </a:pPr>
            <a:r>
              <a:rPr lang="en-US" sz="4300">
                <a:solidFill>
                  <a:srgbClr val="F0ABC1"/>
                </a:solidFill>
                <a:latin typeface="Arial"/>
                <a:ea typeface="Arial"/>
                <a:cs typeface="Arial"/>
                <a:sym typeface="Arial"/>
              </a:rPr>
              <a:t>6.Nhận diện ký tự trên biển số (Plate OCR)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0" y="1765465"/>
            <a:ext cx="16927252" cy="1819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26572" lvl="1" indent="-363286" algn="just">
              <a:lnSpc>
                <a:spcPts val="4711"/>
              </a:lnSpc>
              <a:buFont typeface="Arial"/>
              <a:buChar char="•"/>
            </a:pPr>
            <a:r>
              <a:rPr lang="en-US" sz="3365">
                <a:solidFill>
                  <a:srgbClr val="94DDDE"/>
                </a:solidFill>
                <a:latin typeface="Arial"/>
                <a:ea typeface="Arial"/>
                <a:cs typeface="Arial"/>
                <a:sym typeface="Arial"/>
              </a:rPr>
              <a:t>Sử dụng Tesseract và PaddleOCR để nhận diện ký tự trên biển số xe</a:t>
            </a:r>
          </a:p>
          <a:p>
            <a:pPr marL="726572" lvl="1" indent="-363286" algn="just">
              <a:lnSpc>
                <a:spcPts val="4711"/>
              </a:lnSpc>
              <a:buFont typeface="Arial"/>
              <a:buChar char="•"/>
            </a:pPr>
            <a:r>
              <a:rPr lang="en-US" sz="3365">
                <a:solidFill>
                  <a:srgbClr val="94DDDE"/>
                </a:solidFill>
                <a:latin typeface="Arial"/>
                <a:ea typeface="Arial"/>
                <a:cs typeface="Arial"/>
                <a:sym typeface="Arial"/>
              </a:rPr>
              <a:t>Quy trình gồm: Phân đoạn ký tự ( Character Segmentation) và Nhận diện từng ký tự </a:t>
            </a:r>
          </a:p>
          <a:p>
            <a:pPr marL="726572" lvl="1" indent="-363286" algn="just">
              <a:lnSpc>
                <a:spcPts val="4711"/>
              </a:lnSpc>
              <a:buFont typeface="Arial"/>
              <a:buChar char="•"/>
            </a:pPr>
            <a:r>
              <a:rPr lang="en-US" sz="3365">
                <a:solidFill>
                  <a:srgbClr val="94DDDE"/>
                </a:solidFill>
                <a:latin typeface="Arial"/>
                <a:ea typeface="Arial"/>
                <a:cs typeface="Arial"/>
                <a:sym typeface="Arial"/>
              </a:rPr>
              <a:t>Kết quả: Chuỗi ký tự trên biển số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10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4B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t="18487" b="15016"/>
          <a:stretch>
            <a:fillRect/>
          </a:stretch>
        </p:blipFill>
        <p:spPr>
          <a:xfrm>
            <a:off x="1860435" y="3022024"/>
            <a:ext cx="14567130" cy="7264976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587361" y="207805"/>
            <a:ext cx="11640495" cy="820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020"/>
              </a:lnSpc>
              <a:spcBef>
                <a:spcPct val="0"/>
              </a:spcBef>
            </a:pPr>
            <a:r>
              <a:rPr lang="en-US" sz="4300">
                <a:solidFill>
                  <a:srgbClr val="F0ABC1"/>
                </a:solidFill>
                <a:latin typeface="Arial"/>
                <a:ea typeface="Arial"/>
                <a:cs typeface="Arial"/>
                <a:sym typeface="Arial"/>
              </a:rPr>
              <a:t>7. Theo dõi phương tiện (Vehicle Tracking)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0" y="895350"/>
            <a:ext cx="16927252" cy="1819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26572" lvl="1" indent="-363286" algn="just">
              <a:lnSpc>
                <a:spcPts val="4711"/>
              </a:lnSpc>
              <a:buFont typeface="Arial"/>
              <a:buChar char="•"/>
            </a:pPr>
            <a:r>
              <a:rPr lang="en-US" sz="3365">
                <a:solidFill>
                  <a:srgbClr val="94DDDE"/>
                </a:solidFill>
                <a:latin typeface="Arial"/>
                <a:ea typeface="Arial"/>
                <a:cs typeface="Arial"/>
                <a:sym typeface="Arial"/>
              </a:rPr>
              <a:t>Sử dụng thuật toán Sort để theo dõi phương tiện qua các khung hình</a:t>
            </a:r>
          </a:p>
          <a:p>
            <a:pPr marL="726572" lvl="1" indent="-363286" algn="just">
              <a:lnSpc>
                <a:spcPts val="4711"/>
              </a:lnSpc>
              <a:buFont typeface="Arial"/>
              <a:buChar char="•"/>
            </a:pPr>
            <a:r>
              <a:rPr lang="en-US" sz="3365">
                <a:solidFill>
                  <a:srgbClr val="94DDDE"/>
                </a:solidFill>
                <a:latin typeface="Arial"/>
                <a:ea typeface="Arial"/>
                <a:cs typeface="Arial"/>
                <a:sym typeface="Arial"/>
              </a:rPr>
              <a:t>Mục tiêu: Duy trì thông tin liên tục về vị trí và trạng thái của phương tiện</a:t>
            </a:r>
          </a:p>
          <a:p>
            <a:pPr marL="726572" lvl="1" indent="-363286" algn="just">
              <a:lnSpc>
                <a:spcPts val="4711"/>
              </a:lnSpc>
              <a:buFont typeface="Arial"/>
              <a:buChar char="•"/>
            </a:pPr>
            <a:r>
              <a:rPr lang="en-US" sz="3365">
                <a:solidFill>
                  <a:srgbClr val="94DDDE"/>
                </a:solidFill>
                <a:latin typeface="Arial"/>
                <a:ea typeface="Arial"/>
                <a:cs typeface="Arial"/>
                <a:sym typeface="Arial"/>
              </a:rPr>
              <a:t>Kết quả: Hiển thị số ID trên từng phương tiện xuất hiện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10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4B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387810" y="4491164"/>
            <a:ext cx="9512379" cy="11168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15"/>
              </a:lnSpc>
              <a:spcBef>
                <a:spcPct val="0"/>
              </a:spcBef>
            </a:pPr>
            <a:r>
              <a:rPr lang="en-US" sz="6799" b="1">
                <a:solidFill>
                  <a:srgbClr val="F7B4A7"/>
                </a:solidFill>
                <a:latin typeface="Arial Bold"/>
                <a:ea typeface="Arial Bold"/>
                <a:cs typeface="Arial Bold"/>
                <a:sym typeface="Arial Bold"/>
              </a:rPr>
              <a:t>CHƯƠNG 3: KẾT LUẬN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4B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857250"/>
            <a:ext cx="5540454" cy="8242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20"/>
              </a:lnSpc>
              <a:spcBef>
                <a:spcPct val="0"/>
              </a:spcBef>
            </a:pPr>
            <a:r>
              <a:rPr lang="en-US" sz="4300">
                <a:solidFill>
                  <a:srgbClr val="F0ABC1"/>
                </a:solidFill>
                <a:latin typeface="Arial"/>
                <a:ea typeface="Arial"/>
                <a:cs typeface="Arial"/>
                <a:sym typeface="Arial"/>
              </a:rPr>
              <a:t>1.Kết quả thực nghiệm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0" y="3270256"/>
            <a:ext cx="17968374" cy="35845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698" lvl="1" indent="-431849" algn="just">
              <a:lnSpc>
                <a:spcPts val="5600"/>
              </a:lnSpc>
              <a:buFont typeface="Arial"/>
              <a:buChar char="•"/>
            </a:pPr>
            <a:r>
              <a:rPr lang="en-US" sz="4000">
                <a:solidFill>
                  <a:srgbClr val="94DDDE"/>
                </a:solidFill>
                <a:latin typeface="Arial"/>
                <a:ea typeface="Arial"/>
                <a:cs typeface="Arial"/>
                <a:sym typeface="Arial"/>
              </a:rPr>
              <a:t>Độ chính xác của mô hình YOLOv8: 85%</a:t>
            </a:r>
          </a:p>
          <a:p>
            <a:pPr marL="863698" lvl="1" indent="-431849" algn="just">
              <a:lnSpc>
                <a:spcPts val="5600"/>
              </a:lnSpc>
              <a:buFont typeface="Arial"/>
              <a:buChar char="•"/>
            </a:pPr>
            <a:r>
              <a:rPr lang="en-US" sz="4000">
                <a:solidFill>
                  <a:srgbClr val="94DDDE"/>
                </a:solidFill>
                <a:latin typeface="Arial"/>
                <a:ea typeface="Arial"/>
                <a:cs typeface="Arial"/>
                <a:sym typeface="Arial"/>
              </a:rPr>
              <a:t>Tốc độ xử lí: 8~12ms/frame</a:t>
            </a:r>
          </a:p>
          <a:p>
            <a:pPr marL="863698" lvl="1" indent="-431849" algn="just">
              <a:lnSpc>
                <a:spcPts val="5600"/>
              </a:lnSpc>
              <a:buFont typeface="Arial"/>
              <a:buChar char="•"/>
            </a:pPr>
            <a:r>
              <a:rPr lang="en-US" sz="4000">
                <a:solidFill>
                  <a:srgbClr val="94DDDE"/>
                </a:solidFill>
                <a:latin typeface="Arial"/>
                <a:ea typeface="Arial"/>
                <a:cs typeface="Arial"/>
                <a:sym typeface="Arial"/>
              </a:rPr>
              <a:t>Kết quả nhận diện biển số: Đạt được độ chính xác cao trong điều kiện lý tưởng</a:t>
            </a:r>
          </a:p>
          <a:p>
            <a:pPr marL="863698" lvl="1" indent="-431849" algn="just">
              <a:lnSpc>
                <a:spcPts val="5600"/>
              </a:lnSpc>
              <a:buFont typeface="Arial"/>
              <a:buChar char="•"/>
            </a:pPr>
            <a:r>
              <a:rPr lang="en-US" sz="4000">
                <a:solidFill>
                  <a:srgbClr val="94DDDE"/>
                </a:solidFill>
                <a:latin typeface="Arial"/>
                <a:ea typeface="Arial"/>
                <a:cs typeface="Arial"/>
                <a:sym typeface="Arial"/>
              </a:rPr>
              <a:t>Hạn chế: Gặp khó khăn khi ánh sáng yếu hoặc góc nhìn bất thường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4B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857250"/>
            <a:ext cx="13776605" cy="8242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20"/>
              </a:lnSpc>
              <a:spcBef>
                <a:spcPct val="0"/>
              </a:spcBef>
            </a:pPr>
            <a:r>
              <a:rPr lang="en-US" sz="4300">
                <a:solidFill>
                  <a:srgbClr val="F0ABC1"/>
                </a:solidFill>
                <a:latin typeface="Arial"/>
                <a:ea typeface="Arial"/>
                <a:cs typeface="Arial"/>
                <a:sym typeface="Arial"/>
              </a:rPr>
              <a:t>2.Hạn chế và hướng phát triển cho tương lai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52899" y="1863487"/>
            <a:ext cx="17582202" cy="7108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600"/>
              </a:lnSpc>
            </a:pPr>
            <a:r>
              <a:rPr lang="en-US" sz="4000">
                <a:solidFill>
                  <a:srgbClr val="94DDDE"/>
                </a:solidFill>
                <a:latin typeface="Arial"/>
                <a:ea typeface="Arial"/>
                <a:cs typeface="Arial"/>
                <a:sym typeface="Arial"/>
              </a:rPr>
              <a:t>Hạn chế:</a:t>
            </a:r>
          </a:p>
          <a:p>
            <a:pPr marL="863698" lvl="1" indent="-431849" algn="just">
              <a:lnSpc>
                <a:spcPts val="5600"/>
              </a:lnSpc>
              <a:buFont typeface="Arial"/>
              <a:buChar char="•"/>
            </a:pPr>
            <a:r>
              <a:rPr lang="en-US" sz="4000">
                <a:solidFill>
                  <a:srgbClr val="94DDDE"/>
                </a:solidFill>
                <a:latin typeface="Arial"/>
                <a:ea typeface="Arial"/>
                <a:cs typeface="Arial"/>
                <a:sym typeface="Arial"/>
              </a:rPr>
              <a:t>Vì tính chất bảo mật nên bộ dữ liệu còn nhỏ và chưa đa dạng</a:t>
            </a:r>
          </a:p>
          <a:p>
            <a:pPr marL="863698" lvl="1" indent="-431849" algn="just">
              <a:lnSpc>
                <a:spcPts val="5600"/>
              </a:lnSpc>
              <a:buFont typeface="Arial"/>
              <a:buChar char="•"/>
            </a:pPr>
            <a:r>
              <a:rPr lang="en-US" sz="4000">
                <a:solidFill>
                  <a:srgbClr val="94DDDE"/>
                </a:solidFill>
                <a:latin typeface="Arial"/>
                <a:ea typeface="Arial"/>
                <a:cs typeface="Arial"/>
                <a:sym typeface="Arial"/>
              </a:rPr>
              <a:t>Tốc độ xử lý chưa được tối ưu</a:t>
            </a:r>
          </a:p>
          <a:p>
            <a:pPr marL="863698" lvl="1" indent="-431849" algn="just">
              <a:lnSpc>
                <a:spcPts val="5600"/>
              </a:lnSpc>
              <a:buFont typeface="Arial"/>
              <a:buChar char="•"/>
            </a:pPr>
            <a:r>
              <a:rPr lang="en-US" sz="4000">
                <a:solidFill>
                  <a:srgbClr val="94DDDE"/>
                </a:solidFill>
                <a:latin typeface="Arial"/>
                <a:ea typeface="Arial"/>
                <a:cs typeface="Arial"/>
                <a:sym typeface="Arial"/>
              </a:rPr>
              <a:t>Bị hạn chế về RAM và GPU nên khó khăn khi xử lý thêm nhiều video đa luồng</a:t>
            </a:r>
          </a:p>
          <a:p>
            <a:pPr algn="just">
              <a:lnSpc>
                <a:spcPts val="5600"/>
              </a:lnSpc>
            </a:pPr>
            <a:endParaRPr lang="en-US" sz="4000">
              <a:solidFill>
                <a:srgbClr val="94DDDE"/>
              </a:solidFill>
              <a:latin typeface="Arial"/>
              <a:ea typeface="Arial"/>
              <a:cs typeface="Arial"/>
              <a:sym typeface="Arial"/>
            </a:endParaRPr>
          </a:p>
          <a:p>
            <a:pPr algn="just">
              <a:lnSpc>
                <a:spcPts val="5600"/>
              </a:lnSpc>
            </a:pPr>
            <a:r>
              <a:rPr lang="en-US" sz="4000">
                <a:solidFill>
                  <a:srgbClr val="94DDDE"/>
                </a:solidFill>
                <a:latin typeface="Arial"/>
                <a:ea typeface="Arial"/>
                <a:cs typeface="Arial"/>
                <a:sym typeface="Arial"/>
              </a:rPr>
              <a:t>Đính hướng phát triển:</a:t>
            </a:r>
          </a:p>
          <a:p>
            <a:pPr marL="863698" lvl="1" indent="-431849" algn="just">
              <a:lnSpc>
                <a:spcPts val="5600"/>
              </a:lnSpc>
              <a:buFont typeface="Arial"/>
              <a:buChar char="•"/>
            </a:pPr>
            <a:r>
              <a:rPr lang="en-US" sz="4000">
                <a:solidFill>
                  <a:srgbClr val="94DDDE"/>
                </a:solidFill>
                <a:latin typeface="Arial"/>
                <a:ea typeface="Arial"/>
                <a:cs typeface="Arial"/>
                <a:sym typeface="Arial"/>
              </a:rPr>
              <a:t>Thu thập thêm dữ liệu đa dạng</a:t>
            </a:r>
          </a:p>
          <a:p>
            <a:pPr marL="863698" lvl="1" indent="-431849" algn="just">
              <a:lnSpc>
                <a:spcPts val="5600"/>
              </a:lnSpc>
              <a:buFont typeface="Arial"/>
              <a:buChar char="•"/>
            </a:pPr>
            <a:r>
              <a:rPr lang="en-US" sz="4000">
                <a:solidFill>
                  <a:srgbClr val="94DDDE"/>
                </a:solidFill>
                <a:latin typeface="Arial"/>
                <a:ea typeface="Arial"/>
                <a:cs typeface="Arial"/>
                <a:sym typeface="Arial"/>
              </a:rPr>
              <a:t>Nâng cấp lên YOLOv11 đẻ cải thiện nhiều về độ chính xác và tốc độ</a:t>
            </a:r>
          </a:p>
          <a:p>
            <a:pPr marL="863698" lvl="1" indent="-431849" algn="just">
              <a:lnSpc>
                <a:spcPts val="5600"/>
              </a:lnSpc>
              <a:buFont typeface="Arial"/>
              <a:buChar char="•"/>
            </a:pPr>
            <a:r>
              <a:rPr lang="en-US" sz="4000">
                <a:solidFill>
                  <a:srgbClr val="94DDDE"/>
                </a:solidFill>
                <a:latin typeface="Arial"/>
                <a:ea typeface="Arial"/>
                <a:cs typeface="Arial"/>
                <a:sym typeface="Arial"/>
              </a:rPr>
              <a:t>Tối ưu hóa hệ thống để xử lý đa luồng hiệu quả hơn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DD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0703" y="4116528"/>
            <a:ext cx="8543297" cy="2486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85"/>
              </a:lnSpc>
            </a:pPr>
            <a:r>
              <a:rPr lang="en-US" sz="9346" b="1" i="1" spc="-102">
                <a:solidFill>
                  <a:srgbClr val="2B4B82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THANKS FOR LISTENING.</a:t>
            </a:r>
          </a:p>
        </p:txBody>
      </p:sp>
      <p:sp>
        <p:nvSpPr>
          <p:cNvPr id="3" name="Freeform 3"/>
          <p:cNvSpPr/>
          <p:nvPr/>
        </p:nvSpPr>
        <p:spPr>
          <a:xfrm>
            <a:off x="9854137" y="3018272"/>
            <a:ext cx="7411325" cy="4635447"/>
          </a:xfrm>
          <a:custGeom>
            <a:avLst/>
            <a:gdLst/>
            <a:ahLst/>
            <a:cxnLst/>
            <a:rect l="l" t="t" r="r" b="b"/>
            <a:pathLst>
              <a:path w="7411325" h="4635447">
                <a:moveTo>
                  <a:pt x="0" y="0"/>
                </a:moveTo>
                <a:lnTo>
                  <a:pt x="7411325" y="0"/>
                </a:lnTo>
                <a:lnTo>
                  <a:pt x="7411325" y="4635447"/>
                </a:lnTo>
                <a:lnTo>
                  <a:pt x="0" y="46354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8665100" y="8613636"/>
            <a:ext cx="4338720" cy="2713672"/>
          </a:xfrm>
          <a:custGeom>
            <a:avLst/>
            <a:gdLst/>
            <a:ahLst/>
            <a:cxnLst/>
            <a:rect l="l" t="t" r="r" b="b"/>
            <a:pathLst>
              <a:path w="4338720" h="2713672">
                <a:moveTo>
                  <a:pt x="0" y="0"/>
                </a:moveTo>
                <a:lnTo>
                  <a:pt x="4338720" y="0"/>
                </a:lnTo>
                <a:lnTo>
                  <a:pt x="4338720" y="2713671"/>
                </a:lnTo>
                <a:lnTo>
                  <a:pt x="0" y="27136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3976014" y="7483497"/>
            <a:ext cx="3289448" cy="2057400"/>
          </a:xfrm>
          <a:custGeom>
            <a:avLst/>
            <a:gdLst/>
            <a:ahLst/>
            <a:cxnLst/>
            <a:rect l="l" t="t" r="r" b="b"/>
            <a:pathLst>
              <a:path w="3289448" h="2057400">
                <a:moveTo>
                  <a:pt x="0" y="0"/>
                </a:moveTo>
                <a:lnTo>
                  <a:pt x="3289448" y="0"/>
                </a:lnTo>
                <a:lnTo>
                  <a:pt x="3289448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3320348" y="712171"/>
            <a:ext cx="3289448" cy="2057400"/>
          </a:xfrm>
          <a:custGeom>
            <a:avLst/>
            <a:gdLst/>
            <a:ahLst/>
            <a:cxnLst/>
            <a:rect l="l" t="t" r="r" b="b"/>
            <a:pathLst>
              <a:path w="3289448" h="2057400">
                <a:moveTo>
                  <a:pt x="0" y="0"/>
                </a:moveTo>
                <a:lnTo>
                  <a:pt x="3289448" y="0"/>
                </a:lnTo>
                <a:lnTo>
                  <a:pt x="3289448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804</Words>
  <Application>Microsoft Office PowerPoint</Application>
  <PresentationFormat>Custom</PresentationFormat>
  <Paragraphs>76</Paragraphs>
  <Slides>20</Slides>
  <Notes>0</Notes>
  <HiddenSlides>0</HiddenSlides>
  <MMClips>5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 Bold Italics</vt:lpstr>
      <vt:lpstr>Arial</vt:lpstr>
      <vt:lpstr>Arial Bold</vt:lpstr>
      <vt:lpstr>Noto Sans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đồ án</dc:title>
  <cp:lastModifiedBy>Lê Dương</cp:lastModifiedBy>
  <cp:revision>4</cp:revision>
  <dcterms:created xsi:type="dcterms:W3CDTF">2006-08-16T00:00:00Z</dcterms:created>
  <dcterms:modified xsi:type="dcterms:W3CDTF">2025-01-18T12:59:20Z</dcterms:modified>
  <dc:identifier>DAFyXBf1y4w</dc:identifier>
</cp:coreProperties>
</file>